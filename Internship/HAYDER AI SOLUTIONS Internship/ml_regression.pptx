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7C8F">
              <a:alpha val="20000"/>
            </a:srgbClr>
          </a:solidFill>
          <a:ln w="12700">
            <a:solidFill>
              <a:srgbClr val="0D7C8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4B8C8">
              <a:alpha val="15000"/>
            </a:srgbClr>
          </a:solidFill>
          <a:ln w="12700">
            <a:solidFill>
              <a:srgbClr val="14B8C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&amp;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with Examples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7C8F">
              <a:alpha val="70000"/>
            </a:srgbClr>
          </a:solidFill>
          <a:ln w="12700">
            <a:solidFill>
              <a:srgbClr val="14B8C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42976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7C8F">
              <a:alpha val="70000"/>
            </a:srgbClr>
          </a:solidFill>
          <a:ln w="12700">
            <a:solidFill>
              <a:srgbClr val="14B8C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85616" y="42976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7C8F">
              <a:alpha val="70000"/>
            </a:srgbClr>
          </a:solidFill>
          <a:ln w="12700">
            <a:solidFill>
              <a:srgbClr val="14B8C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9824" y="42976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7C8F">
              <a:alpha val="70000"/>
            </a:srgbClr>
          </a:solidFill>
          <a:ln w="12700">
            <a:solidFill>
              <a:srgbClr val="14B8C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42976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7C8F">
              <a:alpha val="70000"/>
            </a:srgbClr>
          </a:solidFill>
          <a:ln w="12700">
            <a:solidFill>
              <a:srgbClr val="14B8C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94360" cy="658368"/>
          </a:xfrm>
          <a:prstGeom prst="roundRect">
            <a:avLst>
              <a:gd name="adj" fmla="val 9231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106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807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MAE, Cross-Entropy — what they measure &amp; when to use them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10512"/>
            <a:ext cx="594360" cy="658368"/>
          </a:xfrm>
          <a:prstGeom prst="roundRect">
            <a:avLst>
              <a:gd name="adj" fmla="val 923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Squares, assumptions, worked example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594360" cy="658368"/>
          </a:xfrm>
          <a:prstGeom prst="roundRect">
            <a:avLst>
              <a:gd name="adj" fmla="val 9231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946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(L1)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986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sparsity, feature selection example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28416"/>
            <a:ext cx="594360" cy="658368"/>
          </a:xfrm>
          <a:prstGeom prst="roundRect">
            <a:avLst>
              <a:gd name="adj" fmla="val 9231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284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(L2)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Shrinkage, multicollinearity, coefficient comparison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8736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87368"/>
            <a:ext cx="594360" cy="658368"/>
          </a:xfrm>
          <a:prstGeom prst="roundRect">
            <a:avLst>
              <a:gd name="adj" fmla="val 9231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873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4165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sigmoid function, decision boundary example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D7C8F">
              <a:alpha val="25000"/>
            </a:srgbClr>
          </a:solidFill>
          <a:ln w="12700">
            <a:solidFill>
              <a:srgbClr val="0D7C8F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wrong your model is — and by how much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0D7C8F">
              <a:alpha val="20000"/>
            </a:srgbClr>
          </a:solidFill>
          <a:ln w="12700">
            <a:solidFill>
              <a:srgbClr val="14B8C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574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function (or cost function) quantifies the difference between predicted values ŷ and actual values y. During training, the model minimizes this loss by adjusting its parameters via gradient descent.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502920" cy="5029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penalizes large errors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2971800"/>
            <a:ext cx="502920" cy="502920"/>
          </a:xfrm>
          <a:prstGeom prst="ellipse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8728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robust to outliers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1656" y="2971800"/>
            <a:ext cx="502920" cy="502920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67728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7376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measures probability error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vs MAE — Regression Loss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(1/n) × Σ(yᵢ − ŷᵢ)²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Differentiable everywhere (smooth gradients)
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Penalizes large errors more (squares them)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Sensitive to outliers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Loss in squared units (hard to interpret)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[3, 5, 2], ŷ = [2.5, 5, 4]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Errors: [-0.5, 0, -2]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(0.25 + 0 + 4) / 3 = 1.42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813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× Σ|yᵢ − ŷᵢ|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to outliers (linear penalty)
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units as target variable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differentiable at zero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 convergence with gradient descent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[3, 5, 2], ŷ = [2.5, 5, 4]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Errors: |0.5|, |0|, |2|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(0.5 + 0 + 2) / 3 = 0.83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 Loss —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Binary:  BCE = −[y·log(ŷ) + (1−y)·log(1−ŷ)]     |     Multi-Class:  CE = − Σ yᵢ · log(ŷᵢ)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Intuition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penalizes confident wrong predictions very harshly. If the model predicts 0.99 for class 0 but the true label is 1, the loss is −log(0.01) ≈ 4.6, which is enormous. Being wrong and confident is the worst outcome.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1148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23160"/>
          <a:ext cx="3840480" cy="20116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(actual)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(predicted)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(spam)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(spam)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429000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805AD5">
              <a:alpha val="12000"/>
            </a:srgbClr>
          </a:solidFill>
          <a:ln w="12700">
            <a:solidFill>
              <a:srgbClr val="805AD5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49300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Binary classification (logistic regression)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Multi-class classification (softmax output)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Neural networks with probability outputs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C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2B4A">
              <a:alpha val="25000"/>
            </a:srgbClr>
          </a:solidFill>
          <a:ln w="12700">
            <a:solidFill>
              <a:srgbClr val="1A2B4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A2B4A">
              <a:alpha val="20000"/>
            </a:srgbClr>
          </a:solidFill>
          <a:ln w="12700">
            <a:solidFill>
              <a:srgbClr val="1A2B4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continuous outcomes with a straight 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594360"/>
          </a:xfrm>
          <a:prstGeom prst="rect">
            <a:avLst/>
          </a:prstGeom>
          <a:solidFill>
            <a:srgbClr val="1A2B4A">
              <a:alpha val="50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β₁x₁ + β₂x₂ + ... + βₙxₙ + ε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94360" cy="411480"/>
          </a:xfrm>
          <a:prstGeom prst="roundRect">
            <a:avLst>
              <a:gd name="adj" fmla="val 8889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(y when all x=0)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94360" cy="411480"/>
          </a:xfrm>
          <a:prstGeom prst="roundRect">
            <a:avLst>
              <a:gd name="adj" fmla="val 8889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— change in y per unit xᵢ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94360" cy="411480"/>
          </a:xfrm>
          <a:prstGeom prst="roundRect">
            <a:avLst>
              <a:gd name="adj" fmla="val 8889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249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term — unexplained variance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594360" cy="411480"/>
          </a:xfrm>
          <a:prstGeom prst="roundRect">
            <a:avLst>
              <a:gd name="adj" fmla="val 8889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467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3924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minimizes MSE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594360" cy="411480"/>
          </a:xfrm>
          <a:prstGeom prst="roundRect">
            <a:avLst>
              <a:gd name="adj" fmla="val 8889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684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0142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 by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Assumptions (LINE)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438912" cy="43891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76672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— linear relationship between X and 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258568"/>
            <a:ext cx="438912" cy="43891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76672" y="23042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— observations not correlated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08376"/>
            <a:ext cx="438912" cy="43891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76672" y="3054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— residuals are normally distributed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758184"/>
            <a:ext cx="438912" cy="43891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76672" y="3803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variance — homoscedasticity (constant σ²)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40233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2B4A">
              <a:alpha val="12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0599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of assumptions ≠ model failure, but may affect inference reliability.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Worked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Predicting House Prices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09928"/>
          <a:ext cx="3931920" cy="214884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(sqft)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($k)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298448"/>
            <a:ext cx="41148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&amp; Interpretation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764792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783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10 + 0.15 × Size + 8 × Bedrooms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1188720" cy="347472"/>
          </a:xfrm>
          <a:prstGeom prst="roundRect">
            <a:avLst>
              <a:gd name="adj" fmla="val 10526"/>
            </a:avLst>
          </a:prstGeom>
          <a:solidFill>
            <a:srgbClr val="0D7C8F">
              <a:alpha val="85000"/>
            </a:srgbClr>
          </a:solidFill>
          <a:ln w="12700">
            <a:solidFill>
              <a:srgbClr val="0D7C8F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β₀ = 10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2359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price $10k (intercept)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807208"/>
            <a:ext cx="1188720" cy="347472"/>
          </a:xfrm>
          <a:prstGeom prst="roundRect">
            <a:avLst>
              <a:gd name="adj" fmla="val 10526"/>
            </a:avLst>
          </a:prstGeom>
          <a:solidFill>
            <a:srgbClr val="0D7C8F">
              <a:alpha val="85000"/>
            </a:srgbClr>
          </a:solidFill>
          <a:ln w="12700">
            <a:solidFill>
              <a:srgbClr val="0D7C8F">
                <a:alpha val="8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807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 = 0.15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sqft adds $150 to price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282696"/>
            <a:ext cx="1188720" cy="347472"/>
          </a:xfrm>
          <a:prstGeom prst="roundRect">
            <a:avLst>
              <a:gd name="adj" fmla="val 10526"/>
            </a:avLst>
          </a:prstGeom>
          <a:solidFill>
            <a:srgbClr val="0D7C8F">
              <a:alpha val="85000"/>
            </a:srgbClr>
          </a:solidFill>
          <a:ln w="12700">
            <a:solidFill>
              <a:srgbClr val="0D7C8F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2826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β₂ = 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3310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bedroom adds $8k to price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758184"/>
            <a:ext cx="1188720" cy="347472"/>
          </a:xfrm>
          <a:prstGeom prst="roundRect">
            <a:avLst>
              <a:gd name="adj" fmla="val 10526"/>
            </a:avLst>
          </a:prstGeom>
          <a:solidFill>
            <a:srgbClr val="0D7C8F">
              <a:alpha val="85000"/>
            </a:srgbClr>
          </a:solidFill>
          <a:ln w="12700">
            <a:solidFill>
              <a:srgbClr val="0D7C8F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0.97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35040" y="37856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variance explained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11480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1A2B4A">
              <a:alpha val="12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1605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Prediction:  New house with 1,800 sqft and 3 bedrooms   →   Price = 10 + 0.15×1800 + 8×3 = 10 + 270 + 24 = $304,000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05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Absolute Shrinkage and Selection Operator (L1 Regularization)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5943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 + λ × Σ|βᵢ|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 — L1 Regularization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 Cost = (1/2n) × Σ(yᵢ − ŷᵢ)²  +  λ × Σ|βⱼ|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L1 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75104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regularization strength. λ=0 → plain linear regression. As λ↑, coefficients shrink toward zero. Some are pushed to exactly 0.
</a:t>
            </a:r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Effect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Ridge, Lasso can zero out coefficients completely, effectively removing irrelevant features from the model. This makes it a built-in feature selector.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Worked Example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984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salary with 5 features: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67712"/>
          <a:ext cx="3840480" cy="22402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5A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5A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β (λ=0.5)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5A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Exp.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Color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70916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805AD5">
              <a:alpha val="12000"/>
            </a:srgbClr>
          </a:solidFill>
          <a:ln w="12700">
            <a:solidFill>
              <a:srgbClr val="805AD5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7365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Lasso when: many features, suspect most are irrelevant, want automatic feature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6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1A2B4A">
              <a:alpha val="20000"/>
            </a:srgbClr>
          </a:solidFill>
          <a:ln w="12700">
            <a:solidFill>
              <a:srgbClr val="1A2B4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— shrinks coefficients, keeps all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5943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 + λ × Σβᵢ²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— L2 Regularization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Cost = (1/2n) × Σ(yᵢ − ŷᵢ)²  +  λ × Σβⱼ²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vs Lasso — Key Difference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squaring effect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β² means the penalty grows much faster for large coefficients than for small ones. This shrinks big coefficients heavily but never forces any to exactly zero.
</a:t>
            </a:r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features are correlated (multicollinear), Ridge distributes the coefficient weight evenly across them, rather than picking one and zeroing others. Ideal when all features matter.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vs Ridge Comparison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920240"/>
          <a:ext cx="3840480" cy="2633472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5A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Σ|βᵢ|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Σβᵢ²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Zeros out β?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(shrinks)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(sparse)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70916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DD6B20">
              <a:alpha val="12000"/>
            </a:srgbClr>
          </a:solidFill>
          <a:ln w="1270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7365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Ridge when: features are correlated, you want to keep all features but reduce overfitting.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— Correlated Features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Predicting Athletic Performance from correlated measurements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Weight (kg) and BMI are highly correlated (r=0.92). OLS produces unstable, large coefficients. Ridge stabilizes them by distributing weight across both features.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β (unstable)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β λ=0.1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β λ=1.0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462272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DD6B20">
              <a:alpha val="12000"/>
            </a:srgbClr>
          </a:solidFill>
          <a:ln w="1270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5079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λ increases: unstable OLS coefficients (±4.82, −3.91) are pulled toward zero and stabilized. The model becomes more generalizable even though it becomes slightly more biased.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A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1A2B4A">
              <a:alpha val="20000"/>
            </a:srgbClr>
          </a:solidFill>
          <a:ln w="12700">
            <a:solidFill>
              <a:srgbClr val="1A2B4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 probabilities — despite the name, it's for classes, not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P(y=1|x) = σ(β₀ + β₁x) = 1 / (1 + e^−z)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linear combination  z = β₀ + β₁x₁ + ... + βₙxₙ     </a:t>
            </a:r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sigmoid:  σ(z) = 1 / (1 + e^-z)  →  outputs probability [0,1]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Properties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σ(0) = 0.5  →  decision boundary at z=0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980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+∞  →  σ → 1.0   (predict class 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45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−∞  →  σ → 0.0   (predict class 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Binary Cross-Entropy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671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−[y·log(ŷ) + (1−y)·log(1−ŷ)]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68833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y=1: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−log(ŷ)   Higher ŷ → lower loss
</a:t>
            </a:r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y=0: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−log(1−ŷ)   Lower ŷ → lower loss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&amp; Threshold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P(y=1|x) ≥ 0.5  →  Predict Class 1     |     </a:t>
            </a:r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P(y=1|x) &lt; 0.5  →  Predict Class 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can be adjusted (e.g., 0.3 for high-recall medical screening)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Worked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Diabetes Prediction (binary classification)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&amp; Predictions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3931920" cy="242316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P(Diabetes)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16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298448"/>
            <a:ext cx="41148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Interpretation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755648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773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−5.2 + 0.031×Glucose + 0.08×BMI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235915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38A169">
              <a:alpha val="80000"/>
            </a:srgbClr>
          </a:solidFill>
          <a:ln w="12700">
            <a:solidFill>
              <a:srgbClr val="38A169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3591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+10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23957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diabetes × 1.36 (+36%)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88950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38A169">
              <a:alpha val="80000"/>
            </a:srgbClr>
          </a:solidFill>
          <a:ln w="12700">
            <a:solidFill>
              <a:srgbClr val="38A169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889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+5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2926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diabetes × 1.49 (+49%)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41985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38A169">
              <a:alpha val="80000"/>
            </a:srgbClr>
          </a:solidFill>
          <a:ln w="12700">
            <a:solidFill>
              <a:srgbClr val="38A169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4198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0.50 → diagnose diabetes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767328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38A169">
              <a:alpha val="15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0.88 (excellent discrimination)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438912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1A2B4A">
              <a:alpha val="12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425696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patient: Glucose=145, BMI=35   →   z = −5.2 + 0.031×145 + 0.08×35 = −5.2 + 4.495 + 2.8 = 2.095   →   σ(2.095) = 0.89 → Diabetes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 Model —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84832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when: Continuous output, linear relationship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84832" y="12893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E.g.: House prices, temperature, sales forecasting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84832" y="15453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Avoid if: Non-linear data, binary targets, many irrelevant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037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2039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when: Many features, expect most to be irrelevant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3042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E.g.: Gene selection, text feature selection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84832" y="2560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Avoid if: Correlated features (picks one, zeroes others)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84124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0088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18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84832" y="3054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when: Correlated features, prevent overfitting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84832" y="3319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E.g.: Medical data, financial models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84832" y="35753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Avoid if: When you need sparse/interpretable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05072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33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84832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when: Binary or multi-class classification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84832" y="43342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E.g.: Spam detection, disease diagnosis, churn prediction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084832" y="45902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Avoid if: Complex non-linear boundaries (use SVM/neural nets)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Formulas &amp; Cheatsheet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4A30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6192" y="11612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(1/n) × Σ(yᵢ − ŷᵢ)²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4B8C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79592" y="11612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(1/n) × Σ|yᵢ − ŷᵢ|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805AD5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84248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21854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−[y·log(ŷ) + (1−y)·log(1−ŷ)]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984248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D7C8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984248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79592" y="21854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β₀ + β₁x₁ + ... + βₙxₙ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805AD5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08376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6192" y="32095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+ λ×Σ|βⱼ|   (L1 penalty)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008376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D6B2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008376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36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Cost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9592" y="32095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+ λ×Σβⱼ²     (L2 penalty)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38A169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32504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611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36192" y="42336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 = 1 / (1 + e^−z)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09160" y="4032504"/>
            <a:ext cx="4114800" cy="932688"/>
          </a:xfrm>
          <a:prstGeom prst="roundRect">
            <a:avLst>
              <a:gd name="adj" fmla="val 68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38A169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032504"/>
            <a:ext cx="1097280" cy="932688"/>
          </a:xfrm>
          <a:prstGeom prst="roundRect">
            <a:avLst>
              <a:gd name="adj" fmla="val 6863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2611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79592" y="42336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P(y=1|x) = σ(β₀ + β₁x₁ + ...)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0D7C8F">
              <a:alpha val="20000"/>
            </a:srgbClr>
          </a:solidFill>
          <a:ln w="12700">
            <a:solidFill>
              <a:srgbClr val="0D7C8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4B8C8">
              <a:alpha val="15000"/>
            </a:srgbClr>
          </a:solidFill>
          <a:ln w="12700">
            <a:solidFill>
              <a:srgbClr val="14B8C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drive training — choose MSE for regression, cross-entropy for classification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20848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works great when the data is truly linear and assumptions hold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79806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adds L1 penalty → automatic feature selection via coefficient zeroing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83864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51129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adds L2 penalty → coefficient shrinkage without zeroing, ideal for correlated features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51376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42245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for classification — outputs probabilities, not raw numbers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Functions &amp; Regression Models in Machine Learning</dc:title>
  <dc:subject>PptxGenJS Presentation</dc:subject>
  <dc:creator>PptxGenJS</dc:creator>
  <cp:lastModifiedBy>PptxGenJS</cp:lastModifiedBy>
  <cp:revision>1</cp:revision>
  <dcterms:created xsi:type="dcterms:W3CDTF">2026-06-10T07:11:11Z</dcterms:created>
  <dcterms:modified xsi:type="dcterms:W3CDTF">2026-06-10T07:11:11Z</dcterms:modified>
</cp:coreProperties>
</file>