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2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5" Type="http://schemas.openxmlformats.org/officeDocument/2006/relationships/image" Target="../media/image12.png"/><Relationship Id="rId6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12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Relationship Id="rId4" Type="http://schemas.openxmlformats.org/officeDocument/2006/relationships/image" Target="../media/image2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28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4.png"/><Relationship Id="rId5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5.png"/><Relationship Id="rId5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6.png"/><Relationship Id="rId5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6.png"/><Relationship Id="rId5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7.png"/><Relationship Id="rId5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326"/>
            <a:ext cx="1102995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95425" y="1971675"/>
            <a:ext cx="9201150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8FAFC"/>
                </a:solidFill>
                <a:latin typeface="Poppins"/>
              </a:rPr>
              <a:t>Machine Learning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756445"/>
            <a:ext cx="7620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A visual, zero-jargon guide loaded with crystal-clear code snippets designed to make complex concepts incredibly easy to understand and present to others.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238726"/>
            <a:ext cx="12668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ML FOUNDATION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3737" y="6238726"/>
            <a:ext cx="7572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 OF 22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531" y="1543050"/>
            <a:ext cx="1871662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068" y="1543050"/>
            <a:ext cx="1676400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156" y="3686026"/>
            <a:ext cx="747712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9743" y="3686026"/>
            <a:ext cx="742950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568" y="3686026"/>
            <a:ext cx="1057275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3406" y="1628775"/>
            <a:ext cx="157162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7943" y="1628775"/>
            <a:ext cx="109537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3348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44700"/>
            <a:ext cx="5372100" cy="9980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5162" y="6238875"/>
            <a:ext cx="7858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2 OF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587400"/>
            <a:ext cx="564070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2D3EE"/>
                </a:solidFill>
                <a:latin typeface="Poppins"/>
              </a:rPr>
              <a:t>What is Machine Learning?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016025"/>
            <a:ext cx="5372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Instead of writing explicit rules (if-else statements) to solve a problem, we feed data into a </a:t>
            </a:r>
            <a:r>
              <a:rPr b="0" sz="1125" i="0" u="none">
                <a:solidFill>
                  <a:srgbClr val="F8FAFC"/>
                </a:solidFill>
                <a:latin typeface="Inter SemiBold"/>
              </a:rPr>
              <a:t>statistical model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and let it discover the underlying rules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987575"/>
            <a:ext cx="5200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0B981"/>
                </a:solidFill>
                <a:latin typeface="Poppins"/>
              </a:rPr>
              <a:t>Key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273325"/>
            <a:ext cx="49530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Traditional Programming: Data + Rules → Answers.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Inter SemiBold"/>
              </a:rPr>
              <a:t>Machine Learning: Data + Answers →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1. Introduction to Machine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03436"/>
            <a:ext cx="5372100" cy="2576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312961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5162" y="6238875"/>
            <a:ext cx="7858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3 OF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1025" y="1112490"/>
          <a:ext cx="5372099" cy="2419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52500"/>
                <a:gridCol w="2232570"/>
                <a:gridCol w="2187029"/>
              </a:tblGrid>
              <a:tr h="604837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22D3EE"/>
                          </a:solidFill>
                          <a:latin typeface="Inter SemiBold"/>
                        </a:rPr>
                        <a:t>Criteria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22D3EE"/>
                          </a:solidFill>
                          <a:latin typeface="Inter SemiBold"/>
                        </a:rPr>
                        <a:t>Artificial Intelligence (AI)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22D3EE"/>
                          </a:solidFill>
                          <a:latin typeface="Inter SemiBold"/>
                        </a:rPr>
                        <a:t>Machine Learning (ML)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</a:tr>
              <a:tr h="60483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Inter"/>
                        </a:rPr>
                        <a:t>Definition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Broad concept of machines acting "smart" like humans.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A specific subset of AI focused on learning from data.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4837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Inter"/>
                        </a:rPr>
                        <a:t>Scope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Includes Rule-Based systems, NLP, Robotics, ML.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Focused entirely on algorithms &amp; mathematical models.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483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Inter"/>
                        </a:rPr>
                        <a:t>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Simulate cognitive tasks using any programmatic logic.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Inter"/>
                        </a:rPr>
                        <a:t>Identify hidden statistical patterns inside raw data.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1025" y="3674715"/>
            <a:ext cx="53721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ML is the actual engine that powers modern AI, enabling systems to dynamically scale and evolve as more data arrives.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493490"/>
            <a:ext cx="9525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33525" y="1493490"/>
            <a:ext cx="223257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6095" y="1493490"/>
            <a:ext cx="2187029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01375" y="1408211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2231677"/>
            <a:ext cx="95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33525" y="2231677"/>
            <a:ext cx="22325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6095" y="2231677"/>
            <a:ext cx="2187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2955577"/>
            <a:ext cx="95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33525" y="2955577"/>
            <a:ext cx="22325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6095" y="2955577"/>
            <a:ext cx="2187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1025" y="3517552"/>
            <a:ext cx="95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33525" y="3517552"/>
            <a:ext cx="223257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6095" y="3517552"/>
            <a:ext cx="21870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275" y="1432024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43675" y="1432024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96075" y="1432024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2. Artificial Intelligence vs. Machine Learning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112490"/>
            <a:ext cx="3549550" cy="22553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75" y="1112490"/>
            <a:ext cx="3549699" cy="22553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275" y="1112490"/>
            <a:ext cx="3549550" cy="225534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291506"/>
            <a:ext cx="3073300" cy="838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200" y="2291506"/>
            <a:ext cx="3073449" cy="6810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400" y="2504777"/>
            <a:ext cx="3073300" cy="523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5162" y="6238875"/>
            <a:ext cx="7858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4 OF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1350615"/>
            <a:ext cx="29069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Supervised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1750665"/>
            <a:ext cx="30733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Data has both </a:t>
            </a:r>
            <a:r>
              <a:rPr b="0" sz="1050" i="0" u="none">
                <a:solidFill>
                  <a:srgbClr val="F8FAFC"/>
                </a:solidFill>
                <a:latin typeface="Inter SemiBold"/>
              </a:rPr>
              <a:t>input features (X)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and </a:t>
            </a:r>
            <a:r>
              <a:rPr b="0" sz="1050" i="0" u="none">
                <a:solidFill>
                  <a:srgbClr val="F8FAFC"/>
                </a:solidFill>
                <a:latin typeface="Inter SemiBold"/>
              </a:rPr>
              <a:t>labels (y)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. Model learns to predict 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000" y="1350615"/>
            <a:ext cx="290708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Unsupervised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200" y="1750665"/>
            <a:ext cx="307344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Data has </a:t>
            </a:r>
            <a:r>
              <a:rPr b="0" sz="1050" i="0" u="none">
                <a:solidFill>
                  <a:srgbClr val="F8FAFC"/>
                </a:solidFill>
                <a:latin typeface="Inter SemiBold"/>
              </a:rPr>
              <a:t>only input features (X)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. Model finds hidden structures or groups inside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350" y="1350615"/>
            <a:ext cx="284691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Reinforcement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9400" y="1750665"/>
            <a:ext cx="30733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An </a:t>
            </a:r>
            <a:r>
              <a:rPr b="0" sz="1050" i="0" u="none">
                <a:solidFill>
                  <a:srgbClr val="F8FAFC"/>
                </a:solidFill>
                <a:latin typeface="Inter SemiBold"/>
              </a:rPr>
              <a:t>agent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learns by interacting with an environment, receiving rewards (+) or penalties (-).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1388715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9200" y="1388715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9400" y="1388715"/>
            <a:ext cx="26670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3. Types of Machine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7693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5162" y="6238875"/>
            <a:ext cx="7858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5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321891"/>
            <a:ext cx="564070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2D3EE"/>
                </a:solidFill>
                <a:latin typeface="Poppins"/>
              </a:rPr>
              <a:t>What is Feature vs. Target?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750516"/>
            <a:ext cx="5372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In a tabular dataset, think of it this way: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245941"/>
            <a:ext cx="53721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For example, predicting if a customer defaults: "Salary" and "Credit Score" are features, "Defaulted (Yes/No)" is the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074366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Features (Input / Independent Variables):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The clues or columns we use to predict something (represented as 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645866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Target Features (Output / Dependent Variables):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The actual column we are trying to predict (represented as 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074366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925" y="2369641"/>
            <a:ext cx="103286" cy="95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2645866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7525" y="2969716"/>
            <a:ext cx="71437" cy="95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4. Features &amp; Target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962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5162" y="6238875"/>
            <a:ext cx="7858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6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336327"/>
            <a:ext cx="564070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2D3EE"/>
                </a:solidFill>
                <a:latin typeface="Poppins"/>
              </a:rPr>
              <a:t>Splitting Your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764952"/>
            <a:ext cx="5372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To evaluate our model realistically, we split our data into three partitions: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107852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Training Set (60-80%):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Used to train the model so it can learn underlying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679352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Validation Set (10-20%):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Used during tuning to adjust hyperparameters and prevent overfitting.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250852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Test Set (10-20%):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Kept completely hidden until the very end to evaluate final, unbiased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107852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679352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3250852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5. Training, Validation &amp;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06923"/>
            <a:ext cx="11029950" cy="19978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3016448"/>
            <a:ext cx="11010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4861" y="148396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9947" y="1483965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5032" y="1483965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0118" y="1483965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203" y="1483965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0289" y="1483965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5" y="1302990"/>
            <a:ext cx="1654373" cy="137055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56110" y="1302990"/>
            <a:ext cx="1654373" cy="137055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196" y="1302990"/>
            <a:ext cx="1654373" cy="137055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06281" y="1302990"/>
            <a:ext cx="1654373" cy="137055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81367" y="1302990"/>
            <a:ext cx="1654373" cy="137055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56452" y="1302990"/>
            <a:ext cx="1654373" cy="137055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132433" y="1607790"/>
            <a:ext cx="9926835" cy="190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4687" y="6238875"/>
            <a:ext cx="7762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7 OF 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89" y="1845915"/>
            <a:ext cx="13570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oppins"/>
              </a:rPr>
              <a:t>Business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084040"/>
            <a:ext cx="1292423" cy="408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Identify the core business problem to solve.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4774" y="1845915"/>
            <a:ext cx="13570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oppins"/>
              </a:rPr>
              <a:t>Data Gathering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7085" y="2084040"/>
            <a:ext cx="129242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Collect databases, CSVs, or API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9860" y="1845915"/>
            <a:ext cx="13570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oppins"/>
              </a:rPr>
              <a:t>Preprocessing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2171" y="2084040"/>
            <a:ext cx="129242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Clean missing rows, outliers &amp; duplicates.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4946" y="1845915"/>
            <a:ext cx="13570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oppins"/>
              </a:rPr>
              <a:t>Model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7256" y="2084040"/>
            <a:ext cx="129242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Fit algorithms and optimize params.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0031" y="1845915"/>
            <a:ext cx="13570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oppins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2342" y="2084040"/>
            <a:ext cx="129242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Expose predictions via robust APIs.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5117" y="1845915"/>
            <a:ext cx="13570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8FAFC"/>
                </a:solidFill>
                <a:latin typeface="Poppins"/>
              </a:rPr>
              <a:t>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7427" y="2084040"/>
            <a:ext cx="129242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Track accuracy drift over real-time.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1375" y="3111698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425" y="313551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5825" y="313551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8225" y="313551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6. The Machine Learning Life Cycle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68462"/>
            <a:ext cx="5372100" cy="23836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277987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5162" y="6238875"/>
            <a:ext cx="7858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8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112490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Mean, Median &amp;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493490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Fundamental metrics utilized extensively to understand central tendency and handle missing datasets: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06499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Mean (Average):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Sum of all values divided by total count.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Extremely sensitive to outliers.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63649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Median (Middle Value):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The absolute center value when sorted.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Highly resistant to outliers.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20799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Mode (Most Frequent):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The value that appears most often.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Crucial for filling categorical columns.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75" y="1373237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06499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63649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320799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275" y="139704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3675" y="139704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96075" y="1397049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7. Basic Statistics in Machine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962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198167"/>
            <a:ext cx="5372100" cy="5435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5162" y="6238875"/>
            <a:ext cx="7858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9 OF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302692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Measuring Data Spread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1683692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They measure how "spread out" your numeric data points are around the calculated mean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255192"/>
            <a:ext cx="5133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Variance: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The average of squared differences from the mean.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598092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Standard Deviation ( 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The square root of variance. It brings the metric back into the original units of your data, making it intuitive to explain.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343" y="3302942"/>
            <a:ext cx="1325463" cy="3339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255192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598092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6475" y="2683817"/>
            <a:ext cx="77092" cy="76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8. Variance &amp; Standard Deviation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31551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394025"/>
            <a:ext cx="5372100" cy="6018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10 OF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384250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Dividing Your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176525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Percentile: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The value below which a given percentage of data falls. (e.g., scoring in the 90th percentile means you did better than 90% of peers).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336750"/>
            <a:ext cx="5133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Quartiles: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Divide sorted dataset into 4 equal quarters: </a:t>
            </a:r>
            <a:r>
              <a:t>
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• </a:t>
            </a:r>
            <a:r>
              <a:rPr b="0" sz="1125" i="0" u="none">
                <a:solidFill>
                  <a:srgbClr val="F8FAFC"/>
                </a:solidFill>
                <a:latin typeface="Inter SemiBold"/>
              </a:rPr>
              <a:t>Q1 (25th Percentile):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Median of lower half. </a:t>
            </a:r>
            <a:r>
              <a:t>
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• </a:t>
            </a:r>
            <a:r>
              <a:rPr b="0" sz="1125" i="0" u="none">
                <a:solidFill>
                  <a:srgbClr val="F8FAFC"/>
                </a:solidFill>
                <a:latin typeface="Inter SemiBold"/>
              </a:rPr>
              <a:t>Q2 (50th Percentile):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The absolute median. </a:t>
            </a:r>
            <a:r>
              <a:t>
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• </a:t>
            </a:r>
            <a:r>
              <a:rPr b="0" sz="1125" i="0" u="none">
                <a:solidFill>
                  <a:srgbClr val="F8FAFC"/>
                </a:solidFill>
                <a:latin typeface="Inter SemiBold"/>
              </a:rPr>
              <a:t>Q3 (75th Percentile):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Median of upper half.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489275"/>
            <a:ext cx="504825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Used to calculate the </a:t>
            </a:r>
            <a:r>
              <a:rPr b="0" sz="1012" i="0" u="none">
                <a:solidFill>
                  <a:srgbClr val="F8FAFC"/>
                </a:solidFill>
                <a:latin typeface="Inter SemiBold"/>
              </a:rPr>
              <a:t>IQR (Interquartile Range) = Q3 - Q1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, which is the gold standard for statistical outlier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176525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33675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9. Percentiles &amp; Quartiles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962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0875" y="6238875"/>
            <a:ext cx="800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11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503908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Relationships Between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884908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Correlation measures the strength and direction of a linear relationship between two variables, ranging from </a:t>
            </a:r>
            <a:r>
              <a:rPr b="0" sz="1125" i="0" u="none">
                <a:solidFill>
                  <a:srgbClr val="F8FAFC"/>
                </a:solidFill>
                <a:latin typeface="Inter SemiBold"/>
              </a:rPr>
              <a:t>-1.00 to +1.00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485108"/>
            <a:ext cx="53721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10B981"/>
                </a:solidFill>
                <a:latin typeface="Inter"/>
              </a:rPr>
              <a:t>⚠️ </a:t>
            </a:r>
            <a:r>
              <a:rPr b="0" sz="975" i="1" u="none">
                <a:solidFill>
                  <a:srgbClr val="10B981"/>
                </a:solidFill>
                <a:latin typeface="Inter"/>
              </a:rPr>
              <a:t>Caution: Correlation does not equal Causation!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456408"/>
            <a:ext cx="5133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+1.00: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Perfect Positive (When X goes up, y goes up proportionally).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799308"/>
            <a:ext cx="5133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0.00: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No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142208"/>
            <a:ext cx="5133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-1.00: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Perfect Negative (When X goes up, y goes down proportionally).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456408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799308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3142208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10. Correlation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962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12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531590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Why Probability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912590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ML models are not deterministic; they make probabilistic guesses. (e.g.,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"This image is 95% likely to be a cat."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484090"/>
            <a:ext cx="5133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Standard Probability: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Likelihood of event A occurring.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826990"/>
            <a:ext cx="51339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Conditional Probability: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Likelihood of event A occurring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given that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event B has already occurred (represented as ). This serves as the foundation for the classic Naive Bayes classifier.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248409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82699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950" y="3112740"/>
            <a:ext cx="639663" cy="1428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11. Probability Basics in 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962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451794"/>
            <a:ext cx="5372100" cy="10932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13 OF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499294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The Famous Bell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1880294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Many real-world variables (heights, blood pressure, test scores) naturally form a symmetric distribution where the mean, median, and mode are all equal.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47044"/>
            <a:ext cx="530066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0B981"/>
                </a:solidFill>
                <a:latin typeface="Poppins"/>
              </a:rPr>
              <a:t>The Empirical Rule (68-95-99.7)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832794"/>
            <a:ext cx="5048250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• </a:t>
            </a:r>
            <a:r>
              <a:rPr b="0" sz="1012" i="0" u="none">
                <a:solidFill>
                  <a:srgbClr val="F8FAFC"/>
                </a:solidFill>
                <a:latin typeface="Inter SemiBold"/>
              </a:rPr>
              <a:t>68%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of data falls within 1 standard deviation of mean.</a:t>
            </a:r>
            <a:r>
              <a:t>
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• </a:t>
            </a:r>
            <a:r>
              <a:rPr b="0" sz="1012" i="0" u="none">
                <a:solidFill>
                  <a:srgbClr val="F8FAFC"/>
                </a:solidFill>
                <a:latin typeface="Inter SemiBold"/>
              </a:rPr>
              <a:t>95%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of data falls within 2 standard deviations of mean.</a:t>
            </a:r>
            <a:r>
              <a:t>
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• </a:t>
            </a:r>
            <a:r>
              <a:rPr b="0" sz="1012" i="0" u="none">
                <a:solidFill>
                  <a:srgbClr val="F8FAFC"/>
                </a:solidFill>
                <a:latin typeface="Inter SemiBold"/>
              </a:rPr>
              <a:t>99.7%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of data falls within 3 standard deviations of mean.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12. Normal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7693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14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301799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What are Outliers?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682799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Outliers are data points that lie abnormally far away from all other values. They can severely skew ML models and result in highly distorted predictions.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254299"/>
            <a:ext cx="564070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AB308"/>
                </a:solidFill>
                <a:latin typeface="Poppins"/>
              </a:rPr>
              <a:t>How do we detect them?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520999"/>
            <a:ext cx="5133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IQR Method: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Any value below or above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863899"/>
            <a:ext cx="51339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Z-Score Method: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Any data point with a Z-score greater than 3 or less than -3 (meaning it is more than 3 standard deviations away from the calculated mean).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520999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2587674"/>
            <a:ext cx="919311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561" y="2587674"/>
            <a:ext cx="919311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2863899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13. Outliers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238202"/>
            <a:ext cx="11029950" cy="1419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531590"/>
            <a:ext cx="3549550" cy="1516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075" y="1531590"/>
            <a:ext cx="3549699" cy="1516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1275" y="1531590"/>
            <a:ext cx="3549550" cy="1516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3247727"/>
            <a:ext cx="11010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112490"/>
            <a:ext cx="11029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Raw data is incredibly messy. Before throwing algorithms at it, you must resolve these critical errors: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15 OF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1769715"/>
            <a:ext cx="29069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Duplicates &amp; Typos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2169765"/>
            <a:ext cx="30733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Identical rows or mixed cases (e.g., "Male", "MALE", "male") will confuse categorical estimators.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000" y="1769715"/>
            <a:ext cx="290708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Missing &amp; Invalid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200" y="2169765"/>
            <a:ext cx="307344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Null entries or impossible values (such as an Age of -5, or Salary in a Name field).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200" y="1769715"/>
            <a:ext cx="29069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Inconsistent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9400" y="2169765"/>
            <a:ext cx="30733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Numbers loaded as string objects, mixed date schemas, or uncalibrated measurements.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1375" y="3342977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1807815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200" y="1807815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9400" y="1807815"/>
            <a:ext cx="209550" cy="20955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33425" y="336678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5825" y="336678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8225" y="3366789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14. Data Quality Challenges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31551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16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170830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How to Handle Missing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155183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Row Deletion: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Drop rows containing nulls. Use only if missing rows are &lt; 5% of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12333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Column Deletion: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Drop entire column if more than 50-60% of values are missing.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69483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Mean Imputation: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Fill missing numbers with column mean.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Biases standard deviation.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266330"/>
            <a:ext cx="5133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Median Imputation: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Fill with median.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Preferred if data has outliers.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60923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Mode Imputation: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Fill with most frequent category (perfect for text columns).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155183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12333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269483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326633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360923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15. Missing Value Treatment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7693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1825" y="6238875"/>
            <a:ext cx="8191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17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263699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Converting Text to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644699"/>
            <a:ext cx="5372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Models only understand numbers. We must encode categories safely: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1987599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Ordinal Encoding: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Used for ordered categories (e.g., Low=1, Medium=2, High=3).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559099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One-Hot Encoding: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Creates 1/0 binary columns for each category. Best for unordered categories (e.g., Red, Blue, Green).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130599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Rare Category Handling: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Merging high-cardinality values that occur rarely into a single group called "Other" to keep features compact.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1987599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559099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3130599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16. Handling Categorical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31551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18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185118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Why We Scale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566118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Distance-based algorithms (like KNN or SVM) get highly confused if one column ranges from 0 to 1 and another ranges from 0 to 1,000,000.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137618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Standardization (Z-score Scaling):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Centers data around mean=0 and std_dev=1.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709118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Min-Max Scaling: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Compresses all data points into a strict range between 0 and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280618"/>
            <a:ext cx="5133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Robust Scaling: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Uses median &amp; IQR, making it highly robust to outliers.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623518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Log Transform: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Applies a logarithmic scale to compress highly skewed data distributions.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137618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2709118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3280618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3623518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17. Numerical Data Preprocessing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112490"/>
            <a:ext cx="3549550" cy="20637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75" y="1112490"/>
            <a:ext cx="3549699" cy="20637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275" y="1112490"/>
            <a:ext cx="3549550" cy="206379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466677"/>
            <a:ext cx="3073300" cy="4714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200" y="2466677"/>
            <a:ext cx="3073449" cy="4714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400" y="2466677"/>
            <a:ext cx="3073300" cy="4714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3319164"/>
            <a:ext cx="1102995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Feature engineering relies heavily on </a:t>
            </a:r>
            <a:r>
              <a:rPr b="0" sz="1012" i="0" u="none">
                <a:solidFill>
                  <a:srgbClr val="F8FAFC"/>
                </a:solidFill>
                <a:latin typeface="Inter SemiBold"/>
              </a:rPr>
              <a:t>domain knowledge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. Crafting smart features provides a much higher boost to model accuracy than tuning hyperparameters ever could.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19 OF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1350615"/>
            <a:ext cx="29069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Date/Time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1750665"/>
            <a:ext cx="30733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Convert datetime columns into actionable numeric properties like Hour, Day of Week, or Is_Weekend.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4950" y="1350615"/>
            <a:ext cx="292708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Ratios &amp; Interactions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9200" y="1750665"/>
            <a:ext cx="30734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Combine features to highlight mathematical relationships. (e.g., Total Debt / Income = Debt_to_Income_Ratio).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5625" y="1350615"/>
            <a:ext cx="2936929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Binning / Grouping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9400" y="1750665"/>
            <a:ext cx="30733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Convert a continuous numerical column into categorized groups (e.g., converting Age into Teen, Adult, Senior).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1388715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9200" y="1388715"/>
            <a:ext cx="1905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9400" y="1388715"/>
            <a:ext cx="180975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18. Feature Engineering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2490"/>
            <a:ext cx="5372100" cy="27693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2015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3725" y="6238875"/>
            <a:ext cx="85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20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320849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2D3EE"/>
                </a:solidFill>
                <a:latin typeface="Poppins"/>
              </a:rPr>
              <a:t>Splitting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1701849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Random Split: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Default strategy. Splitting rows purely randomly. Works well only if data is well-balanced.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273349"/>
            <a:ext cx="51339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Stratified Split: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Ensures that the ratio of classes (e.g., 90% non-default, 10% default) is preserved exactly in both train and test splits.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Vital for imbalanced classification!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073449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Time-Based Split: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Trains on past data, validates/tests on future data.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Crucial for time-series forecasting.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1375" y="121726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1701849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273349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3073449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2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436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96075" y="1241077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19. Advanced Data Splitting Methods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14871"/>
            <a:ext cx="5372100" cy="2576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24396"/>
            <a:ext cx="53530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38875"/>
            <a:ext cx="10620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CONCEPTS &amp;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2300" y="6238875"/>
            <a:ext cx="828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21 OF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112490"/>
            <a:ext cx="56407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F4444"/>
                </a:solidFill>
                <a:latin typeface="Poppins"/>
              </a:rPr>
              <a:t>What is Data Leakage?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493490"/>
            <a:ext cx="5372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Data leakage occurs when information from outside the training dataset is accidentally used to train the model, resulting in overly optimistic validation scores but terrible real-world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293590"/>
            <a:ext cx="51339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Target Leakage: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Features containing clues about the target that wouldn't be available at prediction time (e.g., predicting bank default using a "Default Fee Paid" column).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093690"/>
            <a:ext cx="51339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8FAFC"/>
                </a:solidFill>
                <a:latin typeface="Inter SemiBold"/>
              </a:rPr>
              <a:t>Train Contamination: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Calculating scaling values (Mean/MinMax) on the entire dataset </a:t>
            </a:r>
            <a:r>
              <a:rPr b="0" sz="1125" i="1" u="none">
                <a:solidFill>
                  <a:srgbClr val="94A3B8"/>
                </a:solidFill>
                <a:latin typeface="Inter"/>
              </a:rPr>
              <a:t>before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splitting.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1375" y="1219646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Fira Code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229359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3093690"/>
            <a:ext cx="142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22D3EE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275" y="1243458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43675" y="1243458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96075" y="1243458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" y="485775"/>
            <a:ext cx="11431428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oppins"/>
              </a:rPr>
              <a:t>20. Data Leakage (The ML Silent Killer)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85775"/>
            <a:ext cx="47625" cy="38859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86177"/>
            <a:ext cx="1102995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0621" y="1460450"/>
            <a:ext cx="6050756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22D3EE"/>
                </a:solidFill>
                <a:latin typeface="Poppins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2460575"/>
            <a:ext cx="6667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You are now armed with the comprehensive, step-by-step roadmap for core Machine Learning, statistics, and essential preprocessing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5237" y="3923555"/>
            <a:ext cx="458152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Created for straightforward, simplified student &amp; colleague presentations.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6238577"/>
            <a:ext cx="12668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ML FOUNDATION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725" y="6238577"/>
            <a:ext cx="857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"/>
              </a:rPr>
              <a:t>SLIDE 22 OF 22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18" y="3390155"/>
            <a:ext cx="1509712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406" y="3390155"/>
            <a:ext cx="1666875" cy="295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5156" y="3390155"/>
            <a:ext cx="1724025" cy="295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5693" y="3475880"/>
            <a:ext cx="176212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8281" y="3475880"/>
            <a:ext cx="119062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8031" y="3475880"/>
            <a:ext cx="138112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